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njiaji/Desktop/GitProject/levelfield/demo-deck/assets-v2/risk-fiel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0"/>
            <a:ext cx="44805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0C0B09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4892040" cy="51435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868680"/>
            <a:ext cx="765353" cy="345643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27432">
            <a:solidFill>
              <a:srgbClr val="C9973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00903" y="973607"/>
            <a:ext cx="135788" cy="135788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34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LevelField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02920" y="2148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0B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who can know — before you do.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27432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information-asymmetry risk for event contracts — scored from contract text alone, verified by code, attested on-chain.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3822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C99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SOMNIA × DREAMDEX · EVENT CONTRACTS HACKATHON ·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42245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 </a:t>
            </a:r>
            <a:pPr indent="0" marL="0">
              <a:buNone/>
            </a:pPr>
            <a:r>
              <a:rPr lang="en-US" sz="850" dirty="0">
                <a:solidFill>
                  <a:srgbClr val="A89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temporary-express-dune-jjgodnq.vercel.app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 </a:t>
            </a:r>
            <a:pPr indent="0" marL="0">
              <a:buNone/>
            </a:pPr>
            <a:r>
              <a:rPr lang="en-US" sz="850" dirty="0">
                <a:solidFill>
                  <a:srgbClr val="A89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0xb8e11dea…3165bbc7 · Somnia Shannon · source-verified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5196" cy="192024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15240">
            <a:solidFill>
              <a:srgbClr val="C9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022" y="442341"/>
            <a:ext cx="75438" cy="75438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 is not level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price tells you what the crowd believes. </a:t>
            </a:r>
            <a:pPr indent="0" marL="0">
              <a:buNone/>
            </a:pPr>
            <a:r>
              <a:rPr lang="en-US" sz="2100" dirty="0">
                <a:solidFill>
                  <a:srgbClr val="E0B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tell you who could already know.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2446020"/>
            <a:ext cx="82296" cy="82296"/>
          </a:xfrm>
          <a:prstGeom prst="rect">
            <a:avLst/>
          </a:prstGeom>
          <a:solidFill>
            <a:srgbClr val="C9973F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3682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makes the outcome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2596896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events resolve on a person's or institution's decision — not on a market average nobody controls.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195828"/>
            <a:ext cx="82296" cy="82296"/>
          </a:xfrm>
          <a:prstGeom prst="rect">
            <a:avLst/>
          </a:prstGeom>
          <a:solidFill>
            <a:srgbClr val="C9973F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1810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circle knows it early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" y="3346704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decision and disclosure there is a window where insiders simply know.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945636"/>
            <a:ext cx="82296" cy="82296"/>
          </a:xfrm>
          <a:prstGeom prst="rect">
            <a:avLst/>
          </a:prstGeom>
          <a:solidFill>
            <a:srgbClr val="C9973F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386791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visible stops them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4088" y="4096512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early knowers can trade is a property of the contract's structure — invisible at the price.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30368" y="1207008"/>
            <a:ext cx="3438144" cy="1957959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pic>
        <p:nvPicPr>
          <p:cNvPr id="16" name="Image 0" descr="/Users/qinjiaji/Desktop/GitProject/levelfield/demo-deck/assets-v2/site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234440"/>
            <a:ext cx="3383280" cy="190309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57800" y="3201543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levelfield — live product (deployed)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25780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existing tool tracks insiders after the fact. Nothing warns before the trade.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48326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LEVELFIELD · PROBLEM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326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5196" cy="192024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15240">
            <a:solidFill>
              <a:srgbClr val="C9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022" y="442341"/>
            <a:ext cx="75438" cy="75438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nothing but the event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75488" y="1115568"/>
            <a:ext cx="3803904" cy="2163699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pic>
        <p:nvPicPr>
          <p:cNvPr id="6" name="Image 0" descr="/Users/qinjiaji/Desktop/GitProject/levelfield/demo-deck/assets-v2/site-market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3749040" cy="21088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315843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DreamDEX BTC price binary · timestamped snapshot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864608" y="1115568"/>
            <a:ext cx="3803904" cy="2163699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pic>
        <p:nvPicPr>
          <p:cNvPr id="9" name="Image 1" descr="/Users/qinjiaji/Desktop/GitProject/levelfield/demo-deck/assets-v2/site-market-9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1143000"/>
            <a:ext cx="3749040" cy="21088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92040" y="3315843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curated reference contract · individual decision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0292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9DB8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/100 low</a:t>
            </a:r>
            <a:endParaRPr lang="en-US" sz="5400" dirty="0"/>
          </a:p>
        </p:txBody>
      </p:sp>
      <p:sp>
        <p:nvSpPr>
          <p:cNvPr id="12" name="Text 8"/>
          <p:cNvSpPr/>
          <p:nvPr/>
        </p:nvSpPr>
        <p:spPr>
          <a:xfrm>
            <a:off x="489204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dirty="0">
                <a:solidFill>
                  <a:srgbClr val="E0B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pPr algn="r" indent="0" marL="0">
              <a:buNone/>
            </a:pPr>
            <a:r>
              <a:rPr lang="en-US" sz="130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/100 high</a:t>
            </a:r>
            <a:endParaRPr lang="en-US" sz="5400" dirty="0"/>
          </a:p>
        </p:txBody>
      </p:sp>
      <p:sp>
        <p:nvSpPr>
          <p:cNvPr id="13" name="Text 9"/>
          <p:cNvSpPr/>
          <p:nvPr/>
        </p:nvSpPr>
        <p:spPr>
          <a:xfrm>
            <a:off x="27432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C99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ENGINE · SAME RULES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02920" y="48326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LEVELFIELD · THE CONTRAST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229600" y="48326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5196" cy="192024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15240">
            <a:solidFill>
              <a:srgbClr val="C9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022" y="442341"/>
            <a:ext cx="75438" cy="75438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A — a model classifies, against public anchors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Control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11887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Insider Tradability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Circle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860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Synchronicity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66160" y="2286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6517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Manufacturability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2651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2004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dimensions, five anchored levels each — a fixed, public library (data/anchors), not a prompt. Any capable model can classify; none is required at runtime.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160520"/>
            <a:ext cx="3611880" cy="310896"/>
          </a:xfrm>
          <a:prstGeom prst="rect">
            <a:avLst/>
          </a:prstGeom>
          <a:solidFill>
            <a:srgbClr val="15130F"/>
          </a:solidFill>
          <a:ln w="12700">
            <a:solidFill>
              <a:srgbClr val="C997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052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B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quotes = verbatim substrings · machine-checked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44568" y="1207008"/>
            <a:ext cx="4123944" cy="2343722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pic>
        <p:nvPicPr>
          <p:cNvPr id="24" name="Image 0" descr="/Users/qinjiaji/Desktop/GitProject/levelfield/demo-deck/assets-v2/dimba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234440"/>
            <a:ext cx="4069080" cy="228885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572000" y="358730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anchor library, as shipped in the product film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48326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LEVELFIELD · STAGE A · CLASSIFY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229600" y="48326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5196" cy="192024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15240">
            <a:solidFill>
              <a:srgbClr val="C9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022" y="442341"/>
            <a:ext cx="75438" cy="75438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B — deterministic code writes the number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75488" y="1161288"/>
            <a:ext cx="5084064" cy="2883789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pic>
        <p:nvPicPr>
          <p:cNvPr id="6" name="Image 0" descr="/Users/qinjiaji/Desktop/GitProject/levelfield/demo-deck/assets-v2/eng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88720"/>
            <a:ext cx="5029200" cy="28289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081653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weights · graduated circuit-breaker floors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0" y="1188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output is ever the score. Levels go in; audited code applies weights, cross-dimension rules and circuit breakers.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240280"/>
            <a:ext cx="2743200" cy="365760"/>
          </a:xfrm>
          <a:prstGeom prst="rect">
            <a:avLst/>
          </a:prstGeom>
          <a:solidFill>
            <a:srgbClr val="15130F"/>
          </a:solidFill>
          <a:ln w="12700">
            <a:solidFill>
              <a:srgbClr val="C997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B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CB-1  one person controls + can trade → floor 80/90/95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0" y="2697480"/>
            <a:ext cx="2743200" cy="365760"/>
          </a:xfrm>
          <a:prstGeom prst="rect">
            <a:avLst/>
          </a:prstGeom>
          <a:solidFill>
            <a:srgbClr val="15130F"/>
          </a:solidFill>
          <a:ln w="12700">
            <a:solidFill>
              <a:srgbClr val="C997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B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CB-2  cheaply manufacturable outcomes → floor 75–90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43600" y="3154680"/>
            <a:ext cx="2743200" cy="365760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9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information → level 4, never a guess low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B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round(100 · Σ wd · (leveld − 1) / 4)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943600" y="4041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bands  low &lt;25 ≤ moderate &lt;50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≤ elevated &lt;75 ≤ high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2920" y="48326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LEVELFIELD · STAGE B · SCORE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326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5196" cy="192024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15240">
            <a:solidFill>
              <a:srgbClr val="C9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022" y="442341"/>
            <a:ext cx="75438" cy="75438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text can never become evidence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84732"/>
            <a:ext cx="82296" cy="82296"/>
          </a:xfrm>
          <a:prstGeom prst="rect">
            <a:avLst/>
          </a:prstGeom>
          <a:solidFill>
            <a:srgbClr val="C9973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207008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scans, not the model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1435608"/>
            <a:ext cx="3776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code-level scanner detects instruction-like text addressed at automated assessors — independent of any model's judgment.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53996"/>
            <a:ext cx="82296" cy="82296"/>
          </a:xfrm>
          <a:prstGeom prst="rect">
            <a:avLst/>
          </a:prstGeom>
          <a:solidFill>
            <a:srgbClr val="C9973F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176272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sentences are tainted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2404872"/>
            <a:ext cx="3776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evidence quote overlapping a tainted sentence is rejected outright; fabricated quotes fail the verbatim check.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223260"/>
            <a:ext cx="82296" cy="82296"/>
          </a:xfrm>
          <a:prstGeom prst="rect">
            <a:avLst/>
          </a:prstGeom>
          <a:solidFill>
            <a:srgbClr val="C9973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45536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complicit model still can't hide 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4088" y="3374136"/>
            <a:ext cx="3776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the calling model obeys the attacker, the server-side flag and caveats are forced onto the result.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live: the curated injection-test contract ships in the product.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27448" y="1572768"/>
            <a:ext cx="3941064" cy="1512189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pic>
        <p:nvPicPr>
          <p:cNvPr id="16" name="Image 0" descr="/Users/qinjiaji/Desktop/GitProject/levelfield/demo-deck/assets-v2/rejection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600200"/>
            <a:ext cx="3886200" cy="145732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754880" y="3121533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rejection: the fake quote is named, nothing is scored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2920" y="48326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LEVELFIELD · INJECTION DEFENSE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326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5196" cy="192024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15240">
            <a:solidFill>
              <a:srgbClr val="C9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022" y="442341"/>
            <a:ext cx="75438" cy="75438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Agent-native: ask before you act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75488" y="1161288"/>
            <a:ext cx="5084064" cy="2883789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pic>
        <p:nvPicPr>
          <p:cNvPr id="6" name="Image 0" descr="/Users/qinjiaji/Desktop/GitProject/levelfield/demo-deck/assets-v2/mcp-term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88720"/>
            <a:ext cx="5029200" cy="28289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081653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MCP server over stdio · assessment only, no order submitted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0" y="1188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trading agent calls the LevelField MCP server pre-trade. The policy fits in one line: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103120"/>
            <a:ext cx="2743200" cy="365760"/>
          </a:xfrm>
          <a:prstGeom prst="rect">
            <a:avLst/>
          </a:prstGeom>
          <a:solidFill>
            <a:srgbClr val="15130F"/>
          </a:solidFill>
          <a:ln w="12700">
            <a:solidFill>
              <a:srgbClr val="9DB89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/ moderate → PROCEED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560320"/>
            <a:ext cx="2743200" cy="365760"/>
          </a:xfrm>
          <a:prstGeom prst="rect">
            <a:avLst/>
          </a:prstGeom>
          <a:solidFill>
            <a:srgbClr val="15130F"/>
          </a:solidFill>
          <a:ln w="12700">
            <a:solidFill>
              <a:srgbClr val="C997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B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elevated / high → DECLINE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3154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DreamDEX binary returns PROCEED at 3. The individual-decision case returns DECLINE at 95 — with the evidence attached.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9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protocol · zero LLM deps · no API key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2920" y="48326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LEVELFIELD · MCP · AGENTS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326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5196" cy="192024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15240">
            <a:solidFill>
              <a:srgbClr val="C9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022" y="442341"/>
            <a:ext cx="75438" cy="75438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Scores that outlive the website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75488" y="1161288"/>
            <a:ext cx="5084064" cy="2883789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pic>
        <p:nvPicPr>
          <p:cNvPr id="6" name="Image 0" descr="/Users/qinjiaji/Desktop/GitProject/levelfield/demo-deck/assets-v2/explor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88720"/>
            <a:ext cx="5029200" cy="28289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081653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ScoreRegistry on Somnia Shannon · real publishBatch txs · source-verified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0" y="1188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score is published as an on-chain attestation any contract or agent can read without our site: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2057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· band · dims[5]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B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methodHash  </a:t>
            </a:r>
            <a:pPr indent="0" marL="0">
              <a:buNone/>
            </a:pPr>
            <a:r>
              <a:rPr lang="en-US" sz="9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(pins the anchor-library version)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scoredAt · sourceUri  </a:t>
            </a:r>
            <a:pPr indent="0" marL="0">
              <a:buNone/>
            </a:pPr>
            <a:r>
              <a:rPr lang="en-US" sz="9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(immutable commit, pinned at submission)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verifier reads every field back and fails closed on anything missing or changed.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0xb8e11dea…3165bbc7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48326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LEVELFIELD · ON-CHAIN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0" y="48326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5196" cy="192024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15240">
            <a:solidFill>
              <a:srgbClr val="C9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022" y="442341"/>
            <a:ext cx="75438" cy="75438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a judge can re-run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51760" cy="1371600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B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= 0.930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Spearman, category risk order, n = 16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371600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B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/ 16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blind-run majority band = reference (3 runs)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1188720"/>
            <a:ext cx="2651760" cy="1371600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B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+ 8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tests + smart-contract tests, all green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MEDIANS, STRICTLY ORDERED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1481328" cy="658368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0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DB8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3566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data · low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66544" y="3154680"/>
            <a:ext cx="1481328" cy="658368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3200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DB8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066544" y="3566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statistical · low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30168" y="3154680"/>
            <a:ext cx="1481328" cy="658368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3200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DB8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30168" y="3566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· low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93792" y="3154680"/>
            <a:ext cx="1481328" cy="658368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3200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97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193792" y="3566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institutional · elev.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757416" y="3154680"/>
            <a:ext cx="1481328" cy="658368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3200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0B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757416" y="35661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 · high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" y="4114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 · npm run validate · npm run agreement · official SDK cross-check 8/8 · read-only, no key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limits: 16-contract curated corpus; agreement stats published per dimension; no outcome prediction claimed.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8326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LEVELFIELD · VALIDATION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0" y="48326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5196" cy="192024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15240">
            <a:solidFill>
              <a:srgbClr val="C9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022" y="442341"/>
            <a:ext cx="75438" cy="75438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grow the venue it audits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39012"/>
            <a:ext cx="82296" cy="82296"/>
          </a:xfrm>
          <a:prstGeom prst="rect">
            <a:avLst/>
          </a:prstGeom>
          <a:solidFill>
            <a:srgbClr val="C9973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161288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1389888"/>
            <a:ext cx="3959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“Feels rigged” becomes a readable, auditable number — the trust barrier for new event categories drops.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80260"/>
            <a:ext cx="82296" cy="82296"/>
          </a:xfrm>
          <a:prstGeom prst="rect">
            <a:avLst/>
          </a:prstGeom>
          <a:solidFill>
            <a:srgbClr val="C9973F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002536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2231136"/>
            <a:ext cx="3959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pre-trade MCP policy hook: DreamDEX is agent-first, and LevelField is the risk check an agent calls before acting.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921508"/>
            <a:ext cx="82296" cy="82296"/>
          </a:xfrm>
          <a:prstGeom prst="rect">
            <a:avLst/>
          </a:prstGeom>
          <a:solidFill>
            <a:srgbClr val="C9973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4378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4088" y="3072384"/>
            <a:ext cx="3959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listing-time instrument for what comes after price binaries — score the category before it ships.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B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+ 11 evidence-backed SDK &amp; documentation findings, delivered as the optional feedback report.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66360" y="1188720"/>
            <a:ext cx="3474720" cy="2286000"/>
          </a:xfrm>
          <a:prstGeom prst="rect">
            <a:avLst/>
          </a:prstGeom>
          <a:solidFill>
            <a:srgbClr val="15130F"/>
          </a:solidFill>
          <a:ln w="12700">
            <a:solidFill>
              <a:srgbClr val="2A27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3716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temporary-express-dune-jjgodnq.vercel.app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SCOREREGISTRY · SOMNIA SHANNON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0xb8e11dea…3165bbc7 (source-verified)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VIDEO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2:55 · real captures · burned captions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repo + immutable SHA at submission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66360" y="3703320"/>
            <a:ext cx="510235" cy="230429"/>
          </a:xfrm>
          <a:prstGeom prst="roundRect">
            <a:avLst>
              <a:gd name="adj" fmla="val 50000"/>
            </a:avLst>
          </a:prstGeom>
          <a:solidFill>
            <a:srgbClr val="0C0B09"/>
          </a:solidFill>
          <a:ln w="18288">
            <a:solidFill>
              <a:srgbClr val="C997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31682" y="3773272"/>
            <a:ext cx="90526" cy="90526"/>
          </a:xfrm>
          <a:prstGeom prst="ellipse">
            <a:avLst/>
          </a:prstGeom>
          <a:solidFill>
            <a:srgbClr val="E0B25C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4069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B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who can know — before you do.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48326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LEVELFIELD · ECOSYSTEM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29600" y="48326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LevelField — Somnia × DreamDEX Event Contracts Hackathon</dc:title>
  <dc:subject>PptxGenJS Presentation</dc:subject>
  <dc:creator>LevelField</dc:creator>
  <cp:lastModifiedBy>LevelField</cp:lastModifiedBy>
  <cp:revision>1</cp:revision>
  <dcterms:created xsi:type="dcterms:W3CDTF">2026-08-21T22:26:47Z</dcterms:created>
  <dcterms:modified xsi:type="dcterms:W3CDTF">2026-08-21T22:26:47Z</dcterms:modified>
</cp:coreProperties>
</file>