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a38b4d1ee140b7" /><Relationship Type="http://schemas.openxmlformats.org/officeDocument/2006/relationships/extended-properties" Target="/docProps/app.xml" Id="Re826f07628c64bd4" /><Relationship Type="http://schemas.openxmlformats.org/officeDocument/2006/relationships/officeDocument" Target="/ppt/presentation.xml" Id="Rb8744a8e73c541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a0d8f90e804a18"/>
  </p:sldMasterIdLst>
  <p:notesMasterIdLst>
    <p:notesMasterId xmlns:r="http://schemas.openxmlformats.org/officeDocument/2006/relationships" r:id="Rfeb40004de4443ba"/>
  </p:notesMasterIdLst>
  <p:sldIdLst>
    <p:sldId xmlns:r="http://schemas.openxmlformats.org/officeDocument/2006/relationships" id="256" r:id="R6cd44d141d81485d"/>
    <p:sldId xmlns:r="http://schemas.openxmlformats.org/officeDocument/2006/relationships" id="257" r:id="R9512c1ad056d45ff"/>
    <p:sldId xmlns:r="http://schemas.openxmlformats.org/officeDocument/2006/relationships" id="258" r:id="R6c229306b0274670"/>
    <p:sldId xmlns:r="http://schemas.openxmlformats.org/officeDocument/2006/relationships" id="259" r:id="R0ecce4ef7aeb4a28"/>
    <p:sldId xmlns:r="http://schemas.openxmlformats.org/officeDocument/2006/relationships" id="260" r:id="Rb1f177e02e85476e"/>
    <p:sldId xmlns:r="http://schemas.openxmlformats.org/officeDocument/2006/relationships" id="261" r:id="R17f807ecfc074f35"/>
    <p:sldId xmlns:r="http://schemas.openxmlformats.org/officeDocument/2006/relationships" id="262" r:id="R2a7bf922cd8449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840d46afa546e7" /><Relationship Type="http://schemas.openxmlformats.org/officeDocument/2006/relationships/slideMaster" Target="/ppt/slideMasters/slideMaster1.xml" Id="Rb5a0d8f90e804a18" /><Relationship Type="http://schemas.openxmlformats.org/officeDocument/2006/relationships/notesMaster" Target="/ppt/notesMasters/notesMaster1.xml" Id="Rfeb40004de4443ba" /><Relationship Type="http://schemas.openxmlformats.org/officeDocument/2006/relationships/presProps" Target="/ppt/presProps.xml" Id="Raaef3ca3fde24958" /><Relationship Type="http://schemas.openxmlformats.org/officeDocument/2006/relationships/tableStyles" Target="/ppt/tableStyles.xml" Id="Rdb36b5f289d44dd4" /><Relationship Type="http://schemas.openxmlformats.org/officeDocument/2006/relationships/slide" Target="/ppt/slides/slide1.xml" Id="R6cd44d141d81485d" /><Relationship Type="http://schemas.openxmlformats.org/officeDocument/2006/relationships/slide" Target="/ppt/slides/slide2.xml" Id="R9512c1ad056d45ff" /><Relationship Type="http://schemas.openxmlformats.org/officeDocument/2006/relationships/slide" Target="/ppt/slides/slide3.xml" Id="R6c229306b0274670" /><Relationship Type="http://schemas.openxmlformats.org/officeDocument/2006/relationships/slide" Target="/ppt/slides/slide4.xml" Id="R0ecce4ef7aeb4a28" /><Relationship Type="http://schemas.openxmlformats.org/officeDocument/2006/relationships/slide" Target="/ppt/slides/slide5.xml" Id="Rb1f177e02e85476e" /><Relationship Type="http://schemas.openxmlformats.org/officeDocument/2006/relationships/slide" Target="/ppt/slides/slide6.xml" Id="R17f807ecfc074f35" /><Relationship Type="http://schemas.openxmlformats.org/officeDocument/2006/relationships/slide" Target="/ppt/slides/slide7.xml" Id="R2a7bf922cd8449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6b0572fd444c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ccde89add04292" /><Relationship Type="http://schemas.openxmlformats.org/officeDocument/2006/relationships/notesMaster" Target="/ppt/notesMasters/notesMaster1.xml" Id="R18abcde2e4ff4a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9a65867e614360" /><Relationship Type="http://schemas.openxmlformats.org/officeDocument/2006/relationships/notesMaster" Target="/ppt/notesMasters/notesMaster1.xml" Id="R7167469853e542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bbf4fccf324110" /><Relationship Type="http://schemas.openxmlformats.org/officeDocument/2006/relationships/notesMaster" Target="/ppt/notesMasters/notesMaster1.xml" Id="R246f69df0cb24c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7f0b20c3af4502" /><Relationship Type="http://schemas.openxmlformats.org/officeDocument/2006/relationships/notesMaster" Target="/ppt/notesMasters/notesMaster1.xml" Id="R7d6b7cc6954140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aef6fbbb444e39" /><Relationship Type="http://schemas.openxmlformats.org/officeDocument/2006/relationships/notesMaster" Target="/ppt/notesMasters/notesMaster1.xml" Id="Rd89563a2768340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687eb7769b42b7" /><Relationship Type="http://schemas.openxmlformats.org/officeDocument/2006/relationships/notesMaster" Target="/ppt/notesMasters/notesMaster1.xml" Id="R44dcfcaf4fcb45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dea38f36374750" /><Relationship Type="http://schemas.openxmlformats.org/officeDocument/2006/relationships/notesMaster" Target="/ppt/notesMasters/notesMaster1.xml" Id="R7983b20159714b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on the risk the price cannot show. LevelField assesses the structure of who may know first before a trader or agent takes a side. It does not predict YES or allege wrongdoing.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docs/design/brand-spec.md</a:t>
            </a:r>
          </a:p>
          <a:p xmlns:a="http://schemas.openxmlformats.org/drawingml/2006/main">
            <a:r>
              <a:t>- apps/web/public/brand/levelfield-risk-field.webp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product tension. A price aggregates belief about an outcome; it does not show whether an outcome is public, privately controlled, or disclosed unevenly.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demo-video/article.md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output/playwright/home-desktop.png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low case is a DreamDEX Shannon price-binary snapshot; the high case is a curated reference contract, not the same venue. The same deterministic engine yields 3 versus 95. CB-1 applies to the individual-decision case because one person controls the outcome and no clear restriction prevents early trading.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data/scores/index.json</a:t>
            </a:r>
          </a:p>
          <a:p xmlns:a="http://schemas.openxmlformats.org/drawingml/2006/main">
            <a:r>
              <a:t>- data/scores/curated-celebrity-breakup.json</a:t>
            </a:r>
          </a:p>
          <a:p xmlns:a="http://schemas.openxmlformats.org/drawingml/2006/main">
            <a:r>
              <a:t>- data/curated/celebrity-breakup.json</a:t>
            </a:r>
          </a:p>
          <a:p xmlns:a="http://schemas.openxmlformats.org/drawingml/2006/main">
            <a:r>
              <a:t>- demo-video/presentation/public/assets/home-3-vs-95.png</a:t>
            </a:r>
          </a:p>
          <a:p xmlns:a="http://schemas.openxmlformats.org/drawingml/2006/main">
            <a:r>
              <a:t>- Command: npm run score:all (refresh before final capture)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anchor library defines five structural dimensions. A model classifies evidence, but code verifies quotes, rejects overlap with targeted instruction-like text, applies conservative defaults, and computes every number through fixed weights, cross-dimension rules, and circuit breakers.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packages/scoring/src/verify.ts</a:t>
            </a:r>
          </a:p>
          <a:p xmlns:a="http://schemas.openxmlformats.org/drawingml/2006/main">
            <a:r>
              <a:t>- packages/scoring/src/engine.ts</a:t>
            </a:r>
          </a:p>
          <a:p xmlns:a="http://schemas.openxmlformats.org/drawingml/2006/main">
            <a:r>
              <a:t>- packages/mcp/src/server.ts</a:t>
            </a:r>
          </a:p>
          <a:p xmlns:a="http://schemas.openxmlformats.org/drawingml/2006/main">
            <a:r>
              <a:t>- data/curated/injection-test.json</a:t>
            </a:r>
          </a:p>
          <a:p xmlns:a="http://schemas.openxmlformats.org/drawingml/2006/main">
            <a:r>
              <a:t>- output/playwright/assess-result.png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reproducible MCP stdio demo with a fixed, visible policy. Low or moderate may proceed; elevated or high is declined. It is a policy gate before action, not DreamDEX order execution or autonomous trading integration.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scripts/agent-demo.ts</a:t>
            </a:r>
          </a:p>
          <a:p xmlns:a="http://schemas.openxmlformats.org/drawingml/2006/main">
            <a:r>
              <a:t>- data/scores/index.json</a:t>
            </a:r>
          </a:p>
          <a:p xmlns:a="http://schemas.openxmlformats.org/drawingml/2006/main">
            <a:r>
              <a:t>- Command: npm run demo:agent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validation set contains sixteen manually labeled curated cases and reaches Spearman rho .930. Three blind classifier runs match the reference bands on all sixteen. Sixty-nine software tests and eight Forge tests pass. The registry contract is deployed on Shannon, but the current source-bound provenance records remain pending republish; do not describe them as fully verified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docs/validation.md</a:t>
            </a:r>
          </a:p>
          <a:p xmlns:a="http://schemas.openxmlformats.org/drawingml/2006/main">
            <a:r>
              <a:t>- docs/agreement.md</a:t>
            </a:r>
          </a:p>
          <a:p xmlns:a="http://schemas.openxmlformats.org/drawingml/2006/main">
            <a:r>
              <a:t>- data/scores/onchain.json</a:t>
            </a:r>
          </a:p>
          <a:p xmlns:a="http://schemas.openxmlformats.org/drawingml/2006/main">
            <a:r>
              <a:t>- contracts/README.md</a:t>
            </a:r>
          </a:p>
          <a:p xmlns:a="http://schemas.openxmlformats.org/drawingml/2006/main">
            <a:r>
              <a:t>- Commands: npm run validate; npx tsx scripts/agreement.ts; npm test; cd contracts &amp;&amp; forge test</a:t>
            </a:r>
          </a:p>
          <a:p xmlns:a="http://schemas.openxmlformats.org/drawingml/2006/main">
            <a:r>
              <a:t>- https://shannon-explorer.somnia.network/address/0xb8e11dea346f2c961880879606a269db3165bbc7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promise: make structural information risk visible before a decision. The current DreamDEX integration covers typed BTC and ETH price binaries; broader category coverage is a product direction, not a completed claim. Add public GitHub and deployment links only after they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demo-video/article.md</a:t>
            </a:r>
          </a:p>
          <a:p xmlns:a="http://schemas.openxmlformats.org/drawingml/2006/main">
            <a:r>
              <a:t>- docs/hackathon-readiness-2026-08-20.md</a:t>
            </a:r>
          </a:p>
          <a:p xmlns:a="http://schemas.openxmlformats.org/drawingml/2006/main">
            <a:r>
              <a:t>- apps/web/public/brand/levelfield-risk-field.webp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66eccb78046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a4ba17aefc45a1" /><Relationship Type="http://schemas.openxmlformats.org/officeDocument/2006/relationships/slideLayout" Target="/ppt/slideLayouts/slideLayout1.xml" Id="Rb3652f68cb144e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652f68cb144e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5a9114ae24e2b" /><Relationship Type="http://schemas.openxmlformats.org/officeDocument/2006/relationships/image" Target="/ppt/media/image.bin" Id="R27e378d4a63c498a" /><Relationship Type="http://schemas.openxmlformats.org/officeDocument/2006/relationships/notesSlide" Target="/ppt/notesSlides/notesSlide1.xml" Id="Rc26f3fbb314c4c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a9db666f843f6" /><Relationship Type="http://schemas.openxmlformats.org/officeDocument/2006/relationships/image" Target="/ppt/media/image.png" Id="Rfb47de62d7504151" /><Relationship Type="http://schemas.openxmlformats.org/officeDocument/2006/relationships/notesSlide" Target="/ppt/notesSlides/notesSlide2.xml" Id="R68de308fd3eb47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0619fd8d84ea3" /><Relationship Type="http://schemas.openxmlformats.org/officeDocument/2006/relationships/image" Target="/ppt/media/image2.png" Id="Rf80a9d8ba9a54aad" /><Relationship Type="http://schemas.openxmlformats.org/officeDocument/2006/relationships/notesSlide" Target="/ppt/notesSlides/notesSlide3.xml" Id="R7697b4cadb424f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f1ba386424227" /><Relationship Type="http://schemas.openxmlformats.org/officeDocument/2006/relationships/image" Target="/ppt/media/image3.png" Id="R8cfcd502d76a432b" /><Relationship Type="http://schemas.openxmlformats.org/officeDocument/2006/relationships/notesSlide" Target="/ppt/notesSlides/notesSlide4.xml" Id="R5ded128aa6e049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ae084427c4eb4" /><Relationship Type="http://schemas.openxmlformats.org/officeDocument/2006/relationships/notesSlide" Target="/ppt/notesSlides/notesSlide5.xml" Id="Rc42d8d6a66104f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601dcfe4b42f7" /><Relationship Type="http://schemas.openxmlformats.org/officeDocument/2006/relationships/notesSlide" Target="/ppt/notesSlides/notesSlide6.xml" Id="R6083b8c165f240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7536319b0470f" /><Relationship Type="http://schemas.openxmlformats.org/officeDocument/2006/relationships/image" Target="/ppt/media/image2.bin" Id="R790089aebeb94c33" /><Relationship Type="http://schemas.openxmlformats.org/officeDocument/2006/relationships/notesSlide" Target="/ppt/notesSlides/notesSlide7.xml" Id="Rff385d62dd5441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378d4a63c498a"/>
          <a:srcRect xmlns:a="http://schemas.openxmlformats.org/drawingml/2006/main" l="18519" t="0" r="18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0" y="0"/>
            <a:ext cx="6477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90679-37E3-4BB4-AC83-0A6A3B69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10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62456-85C1-4989-A37F-64D516C6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695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vent-label">
            <a:extLst xmlns:a="http://schemas.openxmlformats.org/drawingml/2006/main">
              <a:ext uri="{FF2B5EF4-FFF2-40B4-BE49-F238E27FC236}">
                <a16:creationId xmlns:a16="http://schemas.microsoft.com/office/drawing/2014/main" id="{2F17D7A3-6E21-4015-8915-30CE9B898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0A24C"/>
                </a:solidFill>
              </a:defRPr>
            </a:pPr>
            <a:r>
              <a:rPr sz="975" b="1">
                <a:solidFill>
                  <a:srgbClr val="D0A24C"/>
                </a:solidFill>
              </a:rPr>
              <a:t>SOMNIA × DREAMDEX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290A1D8-45D3-4158-8716-3B60415F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>
              <a:defRPr sz="4950">
                <a:solidFill>
                  <a:srgbClr val="EEEAE1"/>
                </a:solidFill>
              </a:defRPr>
            </a:pPr>
            <a:r>
              <a:rPr sz="4950">
                <a:solidFill>
                  <a:srgbClr val="EEEAE1"/>
                </a:solidFill>
              </a:rPr>
              <a:t>Know who may know</a:t>
            </a:r>
          </a:p>
          <a:p xmlns:a="http://schemas.openxmlformats.org/drawingml/2006/main">
            <a:pPr>
              <a:defRPr sz="4950">
                <a:solidFill>
                  <a:srgbClr val="EEEAE1"/>
                </a:solidFill>
              </a:defRPr>
            </a:pPr>
            <a:r>
              <a:rPr sz="4950">
                <a:solidFill>
                  <a:srgbClr val="EEEAE1"/>
                </a:solidFill>
              </a:rPr>
              <a:t>before you do.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9FDF062-1531-4943-9431-054BB619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524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8D2C6"/>
                </a:solidFill>
              </a:defRPr>
            </a:pPr>
            <a:r>
              <a:rPr sz="1725">
                <a:solidFill>
                  <a:srgbClr val="D8D2C6"/>
                </a:solidFill>
              </a:rPr>
              <a:t>Pre-trade structural information-asymmetry assessment</a:t>
            </a:r>
          </a:p>
          <a:p xmlns:a="http://schemas.openxmlformats.org/drawingml/2006/main">
            <a:pPr>
              <a:defRPr sz="1725">
                <a:solidFill>
                  <a:srgbClr val="D8D2C6"/>
                </a:solidFill>
              </a:defRPr>
            </a:pPr>
            <a:r>
              <a:rPr sz="1725">
                <a:solidFill>
                  <a:srgbClr val="D8D2C6"/>
                </a:solidFill>
              </a:rPr>
              <a:t>for DreamDEX event contracts.</a:t>
            </a:r>
          </a:p>
        </p:txBody>
      </p:sp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874AA44C-B3A3-4F71-B8B6-B6B387CC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EEAE1"/>
                </a:solidFill>
              </a:defRPr>
            </a:pPr>
            <a:r>
              <a:rPr sz="1800" b="1">
                <a:solidFill>
                  <a:srgbClr val="EEEAE1"/>
                </a:solidFill>
              </a:rPr>
              <a:t>LevelField</a:t>
            </a:r>
          </a:p>
        </p:txBody>
      </p:sp>
    </p:spTree>
    <p:extLst>
      <p:ext uri="{BB962C8B-B14F-4D97-AF65-F5344CB8AC3E}">
        <p14:creationId xmlns:p14="http://schemas.microsoft.com/office/powerpoint/2010/main" val="6814251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DA033-54D9-475D-B3F6-95148EE7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0A24C"/>
                </a:solidFill>
              </a:defRPr>
            </a:pPr>
            <a:r>
              <a:rPr sz="825" b="1">
                <a:solidFill>
                  <a:srgbClr val="D0A24C"/>
                </a:solidFill>
              </a:rPr>
              <a:t>THE MISSING FIELD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6EE7E-E909-4623-B0C2-BC64A5AA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8579"/>
                </a:solidFill>
              </a:defRPr>
            </a:pPr>
            <a:r>
              <a:rPr sz="825" b="1">
                <a:solidFill>
                  <a:srgbClr val="8C8579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9724D-B4BA-44D5-B9B6-5A0D25EA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0C82C3-45D8-47A0-9DC4-12D42509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>
                <a:solidFill>
                  <a:srgbClr val="EEEAE1"/>
                </a:solidFill>
              </a:defRPr>
            </a:pPr>
            <a:r>
              <a:rPr sz="3375">
                <a:solidFill>
                  <a:srgbClr val="EEEAE1"/>
                </a:solidFill>
              </a:rPr>
              <a:t>A market price does not reveal</a:t>
            </a:r>
          </a:p>
          <a:p xmlns:a="http://schemas.openxmlformats.org/drawingml/2006/main">
            <a:pPr>
              <a:defRPr sz="3375">
                <a:solidFill>
                  <a:srgbClr val="EEEAE1"/>
                </a:solidFill>
              </a:defRPr>
            </a:pPr>
            <a:r>
              <a:rPr sz="3375">
                <a:solidFill>
                  <a:srgbClr val="EEEAE1"/>
                </a:solidFill>
              </a:rPr>
              <a:t>who may know first.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2693160-4189-4B11-8129-744B0C62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6"/>
                </a:solidFill>
              </a:defRPr>
            </a:pPr>
            <a:r>
              <a:rPr sz="1500">
                <a:solidFill>
                  <a:srgbClr val="D8D2C6"/>
                </a:solidFill>
              </a:rPr>
              <a:t>Price expresses belief. It does not describe the event’s information structure.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FDAD0-A4E1-468B-B850-C2A64B97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8204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0"/>
          </a:solidFill>
          <a:ln xmlns:a="http://schemas.openxmlformats.org/drawingml/2006/main" w="9525">
            <a:solidFill>
              <a:srgbClr val="343128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7de62d7504151"/>
          <a:srcRect xmlns:a="http://schemas.openxmlformats.org/drawingml/2006/main" l="0" t="43603" r="0" b="436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" y="2924175"/>
            <a:ext cx="6096000" cy="3200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10EB8-DC9D-4859-B6AA-FC6F163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924175"/>
            <a:ext cx="4714875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ce-label">
            <a:extLst xmlns:a="http://schemas.openxmlformats.org/drawingml/2006/main">
              <a:ext uri="{FF2B5EF4-FFF2-40B4-BE49-F238E27FC236}">
                <a16:creationId xmlns:a16="http://schemas.microsoft.com/office/drawing/2014/main" id="{BDC65882-5E90-4EE8-92E4-CA70D96F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33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8579"/>
                </a:solidFill>
              </a:defRPr>
            </a:pPr>
            <a:r>
              <a:rPr sz="1200" b="1">
                <a:solidFill>
                  <a:srgbClr val="8C8579"/>
                </a:solidFill>
              </a:rPr>
              <a:t>PRICE</a:t>
            </a:r>
          </a:p>
        </p:txBody>
      </p:sp>
      <p:sp>
        <p:nvSpPr>
          <p:cNvPr id="10" name="belief">
            <a:extLst xmlns:a="http://schemas.openxmlformats.org/drawingml/2006/main">
              <a:ext uri="{FF2B5EF4-FFF2-40B4-BE49-F238E27FC236}">
                <a16:creationId xmlns:a16="http://schemas.microsoft.com/office/drawing/2014/main" id="{EA484A28-1CDF-487B-89B2-12191020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>
                <a:solidFill>
                  <a:srgbClr val="EEEAE1"/>
                </a:solidFill>
              </a:defRPr>
            </a:pPr>
            <a:r>
              <a:rPr sz="4200">
                <a:solidFill>
                  <a:srgbClr val="EEEAE1"/>
                </a:solidFill>
              </a:rPr>
              <a:t>belief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6383B-3CC2-4F4A-9810-2EE559AD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ield-label">
            <a:extLst xmlns:a="http://schemas.openxmlformats.org/drawingml/2006/main">
              <a:ext uri="{FF2B5EF4-FFF2-40B4-BE49-F238E27FC236}">
                <a16:creationId xmlns:a16="http://schemas.microsoft.com/office/drawing/2014/main" id="{84EFB78B-BCC2-4E68-8494-A4D484F2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76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0A24C"/>
                </a:solidFill>
              </a:defRPr>
            </a:pPr>
            <a:r>
              <a:rPr sz="1200" b="1">
                <a:solidFill>
                  <a:srgbClr val="D0A24C"/>
                </a:solidFill>
              </a:rPr>
              <a:t>INFORMATION FIELD</a:t>
            </a:r>
          </a:p>
        </p:txBody>
      </p:sp>
      <p:sp>
        <p:nvSpPr>
          <p:cNvPr id="13" name="field-copy">
            <a:extLst xmlns:a="http://schemas.openxmlformats.org/drawingml/2006/main">
              <a:ext uri="{FF2B5EF4-FFF2-40B4-BE49-F238E27FC236}">
                <a16:creationId xmlns:a16="http://schemas.microsoft.com/office/drawing/2014/main" id="{1AA07141-07E7-4BC0-843C-89929EE6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3733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D8D2C6"/>
                </a:solidFill>
              </a:defRPr>
            </a:pPr>
            <a:r>
              <a:rPr sz="2025">
                <a:solidFill>
                  <a:srgbClr val="D8D2C6"/>
                </a:solidFill>
              </a:rPr>
              <a:t>who might know first</a:t>
            </a:r>
          </a:p>
        </p:txBody>
      </p:sp>
    </p:spTree>
    <p:extLst>
      <p:ext uri="{BB962C8B-B14F-4D97-AF65-F5344CB8AC3E}">
        <p14:creationId xmlns:p14="http://schemas.microsoft.com/office/powerpoint/2010/main" val="824046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64786-B5E9-4295-BF9C-B9B31EA4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0A24C"/>
                </a:solidFill>
              </a:defRPr>
            </a:pPr>
            <a:r>
              <a:rPr sz="825" b="1">
                <a:solidFill>
                  <a:srgbClr val="D0A24C"/>
                </a:solidFill>
              </a:rPr>
              <a:t>CONCRETE CONTRAST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8F6A6-B300-4113-8417-7295686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8579"/>
                </a:solidFill>
              </a:defRPr>
            </a:pPr>
            <a:r>
              <a:rPr sz="825" b="1">
                <a:solidFill>
                  <a:srgbClr val="8C8579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D8002-BDAA-4470-A0D9-D2DCEEA5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8F54A12-0CC1-4296-97A7-697B820E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EEEAE1"/>
                </a:solidFill>
              </a:defRPr>
            </a:pPr>
            <a:r>
              <a:rPr sz="3225">
                <a:solidFill>
                  <a:srgbClr val="EEEAE1"/>
                </a:solidFill>
              </a:rPr>
              <a:t>The same scoring engine separates 3 from 95.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2D5B917-4A60-45AA-85AC-38C15CFE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8D2C6"/>
                </a:solidFill>
              </a:defRPr>
            </a:pPr>
            <a:r>
              <a:rPr sz="1500">
                <a:solidFill>
                  <a:srgbClr val="D8D2C6"/>
                </a:solidFill>
              </a:rPr>
              <a:t>It measures information structure—not the probability of YES.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ADF2B-B81C-441A-A57A-CAE30A7E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8"/>
          </a:solidFill>
          <a:ln xmlns:a="http://schemas.openxmlformats.org/drawingml/2006/main" w="9525">
            <a:solidFill>
              <a:srgbClr val="34312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0a9d8ba9a54aad"/>
          <a:srcRect xmlns:a="http://schemas.openxmlformats.org/drawingml/2006/main" l="0" t="27349" r="0" b="273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419350"/>
            <a:ext cx="10553700" cy="3486150"/>
          </a:xfrm>
          <a:prstGeom xmlns:a="http://schemas.openxmlformats.org/drawingml/2006/main" prst="rect">
            <a:avLst/>
          </a:prstGeom>
        </p:spPr>
      </p:pic>
      <p:sp>
        <p:nvSpPr>
          <p:cNvPr id="8" name="low-caption">
            <a:extLst xmlns:a="http://schemas.openxmlformats.org/drawingml/2006/main">
              <a:ext uri="{FF2B5EF4-FFF2-40B4-BE49-F238E27FC236}">
                <a16:creationId xmlns:a16="http://schemas.microsoft.com/office/drawing/2014/main" id="{9C1AE041-1C49-4481-876B-4C97535C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531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C8579"/>
                </a:solidFill>
              </a:defRPr>
            </a:pPr>
            <a:r>
              <a:rPr sz="825" b="1">
                <a:solidFill>
                  <a:srgbClr val="8C8579"/>
                </a:solidFill>
              </a:rPr>
              <a:t>DREAMDEX SHANNON SNAPSHOT</a:t>
            </a:r>
          </a:p>
        </p:txBody>
      </p:sp>
      <p:sp>
        <p:nvSpPr>
          <p:cNvPr id="9" name="high-caption">
            <a:extLst xmlns:a="http://schemas.openxmlformats.org/drawingml/2006/main">
              <a:ext uri="{FF2B5EF4-FFF2-40B4-BE49-F238E27FC236}">
                <a16:creationId xmlns:a16="http://schemas.microsoft.com/office/drawing/2014/main" id="{8D069A24-061E-4D80-9A8D-E758C675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61531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8579"/>
                </a:solidFill>
              </a:defRPr>
            </a:pPr>
            <a:r>
              <a:rPr sz="825" b="1">
                <a:solidFill>
                  <a:srgbClr val="8C8579"/>
                </a:solidFill>
              </a:rPr>
              <a:t>CURATED REFERENCE CONTRACT</a:t>
            </a:r>
          </a:p>
        </p:txBody>
      </p:sp>
    </p:spTree>
    <p:extLst>
      <p:ext uri="{BB962C8B-B14F-4D97-AF65-F5344CB8AC3E}">
        <p14:creationId xmlns:p14="http://schemas.microsoft.com/office/powerpoint/2010/main" val="970615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F7902C-2312-4DF1-A8D7-7F735E26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0A24C"/>
                </a:solidFill>
              </a:defRPr>
            </a:pPr>
            <a:r>
              <a:rPr sz="825" b="1">
                <a:solidFill>
                  <a:srgbClr val="D0A24C"/>
                </a:solidFill>
              </a:rPr>
              <a:t>TRUST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751A8-14FF-4428-A962-9F2FDD43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8579"/>
                </a:solidFill>
              </a:defRPr>
            </a:pPr>
            <a:r>
              <a:rPr sz="825" b="1">
                <a:solidFill>
                  <a:srgbClr val="8C8579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9C88A-3100-42B9-AC43-6EE58945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0A9C2B-58D3-45C7-86DF-44CFA1E5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>
                <a:solidFill>
                  <a:srgbClr val="EEEAE1"/>
                </a:solidFill>
              </a:defRPr>
            </a:pPr>
            <a:r>
              <a:rPr sz="3450">
                <a:solidFill>
                  <a:srgbClr val="EEEAE1"/>
                </a:solidFill>
              </a:rPr>
              <a:t>Model classifies. Code decides.</a:t>
            </a:r>
          </a:p>
        </p:txBody>
      </p:sp>
      <p:sp>
        <p:nvSpPr>
          <p:cNvPr id="5" name="flow">
            <a:extLst xmlns:a="http://schemas.openxmlformats.org/drawingml/2006/main">
              <a:ext uri="{FF2B5EF4-FFF2-40B4-BE49-F238E27FC236}">
                <a16:creationId xmlns:a16="http://schemas.microsoft.com/office/drawing/2014/main" id="{886BBFDA-01CD-45CA-A936-9923F535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0A24C"/>
                </a:solidFill>
              </a:defRPr>
            </a:pPr>
            <a:r>
              <a:rPr sz="1500" b="1">
                <a:solidFill>
                  <a:srgbClr val="D0A24C"/>
                </a:solidFill>
              </a:rPr>
              <a:t>Public anchors  →  verified quotes  →  deterministic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60FDE-904B-4B8D-85FC-9F499BA3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547687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8"/>
          </a:solidFill>
          <a:ln xmlns:a="http://schemas.openxmlformats.org/drawingml/2006/main" w="9525">
            <a:solidFill>
              <a:srgbClr val="343128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cd502d76a432b"/>
          <a:srcRect xmlns:a="http://schemas.openxmlformats.org/drawingml/2006/main" l="0" t="34425" r="0" b="34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" y="2343150"/>
            <a:ext cx="5457825" cy="3838575"/>
          </a:xfrm>
          <a:prstGeom xmlns:a="http://schemas.openxmlformats.org/drawingml/2006/main" prst="rect">
            <a:avLst/>
          </a:prstGeom>
        </p:spPr>
      </p:pic>
      <p:sp>
        <p:nvSpPr>
          <p:cNvPr id="8" name="d1">
            <a:extLst xmlns:a="http://schemas.openxmlformats.org/drawingml/2006/main">
              <a:ext uri="{FF2B5EF4-FFF2-40B4-BE49-F238E27FC236}">
                <a16:creationId xmlns:a16="http://schemas.microsoft.com/office/drawing/2014/main" id="{5FBC573A-B800-40B1-92E4-F8D8A78C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0A24C"/>
                </a:solidFill>
              </a:defRPr>
            </a:pPr>
            <a:r>
              <a:rPr sz="1050" b="1">
                <a:solidFill>
                  <a:srgbClr val="D0A24C"/>
                </a:solidFill>
              </a:rPr>
              <a:t>01</a:t>
            </a:r>
          </a:p>
        </p:txBody>
      </p:sp>
      <p:sp>
        <p:nvSpPr>
          <p:cNvPr id="9" name="evidence">
            <a:extLst xmlns:a="http://schemas.openxmlformats.org/drawingml/2006/main">
              <a:ext uri="{FF2B5EF4-FFF2-40B4-BE49-F238E27FC236}">
                <a16:creationId xmlns:a16="http://schemas.microsoft.com/office/drawing/2014/main" id="{B997B827-D0DD-4ABA-930A-8C82A62C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193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EEAE1"/>
                </a:solidFill>
              </a:defRPr>
            </a:pPr>
            <a:r>
              <a:rPr sz="1950">
                <a:solidFill>
                  <a:srgbClr val="EEEAE1"/>
                </a:solidFill>
              </a:rPr>
              <a:t>Verbatim evidence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D9C79B11-29DE-4C56-AB4F-B7A72397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6"/>
                </a:solidFill>
              </a:defRPr>
            </a:pPr>
            <a:r>
              <a:rPr sz="1350">
                <a:solidFill>
                  <a:srgbClr val="D8D2C6"/>
                </a:solidFill>
              </a:rPr>
              <a:t>Every non-empty quote must occur in the contract 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BB87C-1A1D-4F15-BC69-5CDB4160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2">
            <a:extLst xmlns:a="http://schemas.openxmlformats.org/drawingml/2006/main">
              <a:ext uri="{FF2B5EF4-FFF2-40B4-BE49-F238E27FC236}">
                <a16:creationId xmlns:a16="http://schemas.microsoft.com/office/drawing/2014/main" id="{0D5E02C4-40B8-4BFD-A315-5DDDD821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90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0A24C"/>
                </a:solidFill>
              </a:defRPr>
            </a:pPr>
            <a:r>
              <a:rPr sz="1050" b="1">
                <a:solidFill>
                  <a:srgbClr val="D0A24C"/>
                </a:solidFill>
              </a:rPr>
              <a:t>02</a:t>
            </a:r>
          </a:p>
        </p:txBody>
      </p:sp>
      <p:sp>
        <p:nvSpPr>
          <p:cNvPr id="13" name="reject">
            <a:extLst xmlns:a="http://schemas.openxmlformats.org/drawingml/2006/main">
              <a:ext uri="{FF2B5EF4-FFF2-40B4-BE49-F238E27FC236}">
                <a16:creationId xmlns:a16="http://schemas.microsoft.com/office/drawing/2014/main" id="{37F07D42-A70A-4098-B8B8-F27F695B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EEAE1"/>
                </a:solidFill>
              </a:defRPr>
            </a:pPr>
            <a:r>
              <a:rPr sz="1800">
                <a:solidFill>
                  <a:srgbClr val="EEEAE1"/>
                </a:solidFill>
              </a:rPr>
              <a:t>Instruction-like overlap rejected</a:t>
            </a:r>
          </a:p>
        </p:txBody>
      </p:sp>
      <p:sp>
        <p:nvSpPr>
          <p:cNvPr id="14" name="reject-body">
            <a:extLst xmlns:a="http://schemas.openxmlformats.org/drawingml/2006/main">
              <a:ext uri="{FF2B5EF4-FFF2-40B4-BE49-F238E27FC236}">
                <a16:creationId xmlns:a16="http://schemas.microsoft.com/office/drawing/2014/main" id="{38C23AFE-2B86-429B-8ABD-0189A842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672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8D2C6"/>
                </a:solidFill>
              </a:defRPr>
            </a:pPr>
            <a:r>
              <a:rPr sz="1350">
                <a:solidFill>
                  <a:srgbClr val="D8D2C6"/>
                </a:solidFill>
              </a:rPr>
              <a:t>Targeted scanner—not a claim of universal prompt-injection immunity.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60B5E-CD9F-4C7B-B0EB-ECFA1214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3">
            <a:extLst xmlns:a="http://schemas.openxmlformats.org/drawingml/2006/main">
              <a:ext uri="{FF2B5EF4-FFF2-40B4-BE49-F238E27FC236}">
                <a16:creationId xmlns:a16="http://schemas.microsoft.com/office/drawing/2014/main" id="{C01737B6-07A1-46D2-BD08-DCD18D0D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387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0A24C"/>
                </a:solidFill>
              </a:defRPr>
            </a:pPr>
            <a:r>
              <a:rPr sz="1050" b="1">
                <a:solidFill>
                  <a:srgbClr val="D0A24C"/>
                </a:solidFill>
              </a:rPr>
              <a:t>03</a:t>
            </a:r>
          </a:p>
        </p:txBody>
      </p:sp>
      <p:sp>
        <p:nvSpPr>
          <p:cNvPr id="17" name="missing">
            <a:extLst xmlns:a="http://schemas.openxmlformats.org/drawingml/2006/main">
              <a:ext uri="{FF2B5EF4-FFF2-40B4-BE49-F238E27FC236}">
                <a16:creationId xmlns:a16="http://schemas.microsoft.com/office/drawing/2014/main" id="{392DC628-356F-4CFC-9467-42462538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006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EEAE1"/>
                </a:solidFill>
              </a:defRPr>
            </a:pPr>
            <a:r>
              <a:rPr sz="1800">
                <a:solidFill>
                  <a:srgbClr val="EEEAE1"/>
                </a:solidFill>
              </a:rPr>
              <a:t>Missing information → Level 4</a:t>
            </a:r>
          </a:p>
        </p:txBody>
      </p:sp>
      <p:sp>
        <p:nvSpPr>
          <p:cNvPr id="18" name="code-boundary">
            <a:extLst xmlns:a="http://schemas.openxmlformats.org/drawingml/2006/main">
              <a:ext uri="{FF2B5EF4-FFF2-40B4-BE49-F238E27FC236}">
                <a16:creationId xmlns:a16="http://schemas.microsoft.com/office/drawing/2014/main" id="{D492845E-7AF3-44EB-BF5E-9348CF1A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76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0A24C"/>
                </a:solidFill>
              </a:defRPr>
            </a:pPr>
            <a:r>
              <a:rPr sz="1350" b="1">
                <a:solidFill>
                  <a:srgbClr val="D0A24C"/>
                </a:solidFill>
              </a:rPr>
              <a:t>The model never generates the numeric score.</a:t>
            </a:r>
          </a:p>
        </p:txBody>
      </p:sp>
    </p:spTree>
    <p:extLst>
      <p:ext uri="{BB962C8B-B14F-4D97-AF65-F5344CB8AC3E}">
        <p14:creationId xmlns:p14="http://schemas.microsoft.com/office/powerpoint/2010/main" val="779571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B1DF0-A8F9-4416-931F-EF7A10E8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0A24C"/>
                </a:solidFill>
              </a:defRPr>
            </a:pPr>
            <a:r>
              <a:rPr sz="825" b="1">
                <a:solidFill>
                  <a:srgbClr val="D0A24C"/>
                </a:solidFill>
              </a:rPr>
              <a:t>AGENT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BBC1D-EFCA-4140-9B06-C5A84316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8579"/>
                </a:solidFill>
              </a:defRPr>
            </a:pPr>
            <a:r>
              <a:rPr sz="825" b="1">
                <a:solidFill>
                  <a:srgbClr val="8C8579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4418E-AF5B-4308-A8A1-CBFB71FF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2F869EB-A2DC-4D72-AD11-5D86952A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EEEAE1"/>
                </a:solidFill>
              </a:defRPr>
            </a:pPr>
            <a:r>
              <a:rPr sz="3225">
                <a:solidFill>
                  <a:srgbClr val="EEEAE1"/>
                </a:solidFill>
              </a:rPr>
              <a:t>A transparent policy turns a score into a decision.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DB283C3-FF13-4103-8A69-70978186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C8579"/>
                </a:solidFill>
              </a:defRPr>
            </a:pPr>
            <a:r>
              <a:rPr sz="1350">
                <a:solidFill>
                  <a:srgbClr val="8C8579"/>
                </a:solidFill>
              </a:rPr>
              <a:t>Real LevelField MCP call over stdio · pre-action gate · no order submitted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97067-37AA-4063-A10B-C18F9CA2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8"/>
          </a:solidFill>
          <a:ln xmlns:a="http://schemas.openxmlformats.org/drawingml/2006/main" w="9525">
            <a:solidFill>
              <a:srgbClr val="343128"/>
            </a:solidFill>
            <a:prstDash val="solid"/>
          </a:ln>
        </p:spPr>
      </p:sp>
      <p:sp>
        <p:nvSpPr>
          <p:cNvPr id="7" name="command">
            <a:extLst xmlns:a="http://schemas.openxmlformats.org/drawingml/2006/main">
              <a:ext uri="{FF2B5EF4-FFF2-40B4-BE49-F238E27FC236}">
                <a16:creationId xmlns:a16="http://schemas.microsoft.com/office/drawing/2014/main" id="{BF899829-6783-4272-BA1A-F309A82D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A24C"/>
                </a:solidFill>
              </a:defRPr>
            </a:pPr>
            <a:r>
              <a:rPr sz="1275" b="1">
                <a:solidFill>
                  <a:srgbClr val="D0A24C"/>
                </a:solidFill>
              </a:rPr>
              <a:t>$ npm run demo:agent</a:t>
            </a:r>
          </a:p>
        </p:txBody>
      </p:sp>
      <p:sp>
        <p:nvSpPr>
          <p:cNvPr id="8" name="connected">
            <a:extLst xmlns:a="http://schemas.openxmlformats.org/drawingml/2006/main">
              <a:ext uri="{FF2B5EF4-FFF2-40B4-BE49-F238E27FC236}">
                <a16:creationId xmlns:a16="http://schemas.microsoft.com/office/drawing/2014/main" id="{8B915991-9AEB-492E-9663-5D6BDA3A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D2C6"/>
                </a:solidFill>
              </a:defRPr>
            </a:pPr>
            <a:r>
              <a:rPr sz="1275">
                <a:solidFill>
                  <a:srgbClr val="D8D2C6"/>
                </a:solidFill>
              </a:rPr>
              <a:t>Connected to the LevelField MCP server over stdio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0A44D-1C12-4921-BCA9-6192CB8D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w-score">
            <a:extLst xmlns:a="http://schemas.openxmlformats.org/drawingml/2006/main">
              <a:ext uri="{FF2B5EF4-FFF2-40B4-BE49-F238E27FC236}">
                <a16:creationId xmlns:a16="http://schemas.microsoft.com/office/drawing/2014/main" id="{73E229E7-76F1-4217-8718-E69A085D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1047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150">
                <a:solidFill>
                  <a:srgbClr val="EEEAE1"/>
                </a:solidFill>
              </a:defRPr>
            </a:pPr>
            <a:r>
              <a:rPr sz="6150">
                <a:solidFill>
                  <a:srgbClr val="EEEAE1"/>
                </a:solidFill>
              </a:rPr>
              <a:t>3</a:t>
            </a:r>
          </a:p>
        </p:txBody>
      </p:sp>
      <p:sp>
        <p:nvSpPr>
          <p:cNvPr id="11" name="low-band">
            <a:extLst xmlns:a="http://schemas.openxmlformats.org/drawingml/2006/main">
              <a:ext uri="{FF2B5EF4-FFF2-40B4-BE49-F238E27FC236}">
                <a16:creationId xmlns:a16="http://schemas.microsoft.com/office/drawing/2014/main" id="{A3A2C634-680E-4008-82A2-C8D94974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8579"/>
                </a:solidFill>
              </a:defRPr>
            </a:pPr>
            <a:r>
              <a:rPr sz="1200" b="1">
                <a:solidFill>
                  <a:srgbClr val="8C8579"/>
                </a:solidFill>
              </a:rPr>
              <a:t>/100  LOW</a:t>
            </a:r>
          </a:p>
        </p:txBody>
      </p:sp>
      <p:sp>
        <p:nvSpPr>
          <p:cNvPr id="12" name="proceed">
            <a:extLst xmlns:a="http://schemas.openxmlformats.org/drawingml/2006/main">
              <a:ext uri="{FF2B5EF4-FFF2-40B4-BE49-F238E27FC236}">
                <a16:creationId xmlns:a16="http://schemas.microsoft.com/office/drawing/2014/main" id="{819D07D7-8712-4537-8EF9-D1DD3D15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386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0A24C"/>
                </a:solidFill>
              </a:defRPr>
            </a:pPr>
            <a:r>
              <a:rPr sz="2700" b="1">
                <a:solidFill>
                  <a:srgbClr val="D0A24C"/>
                </a:solidFill>
              </a:rPr>
              <a:t>PROCEED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2003C-07BA-41EC-9F5B-856BA9EB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95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high-score">
            <a:extLst xmlns:a="http://schemas.openxmlformats.org/drawingml/2006/main">
              <a:ext uri="{FF2B5EF4-FFF2-40B4-BE49-F238E27FC236}">
                <a16:creationId xmlns:a16="http://schemas.microsoft.com/office/drawing/2014/main" id="{EEC2EFB0-743C-4935-BECC-84C1CAFF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1428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150">
                <a:solidFill>
                  <a:srgbClr val="EEEAE1"/>
                </a:solidFill>
              </a:defRPr>
            </a:pPr>
            <a:r>
              <a:rPr sz="6150">
                <a:solidFill>
                  <a:srgbClr val="EEEAE1"/>
                </a:solidFill>
              </a:rPr>
              <a:t>95</a:t>
            </a:r>
          </a:p>
        </p:txBody>
      </p:sp>
      <p:sp>
        <p:nvSpPr>
          <p:cNvPr id="15" name="high-band">
            <a:extLst xmlns:a="http://schemas.openxmlformats.org/drawingml/2006/main">
              <a:ext uri="{FF2B5EF4-FFF2-40B4-BE49-F238E27FC236}">
                <a16:creationId xmlns:a16="http://schemas.microsoft.com/office/drawing/2014/main" id="{D3650F7E-309A-4C52-B54F-5A8AFAA2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C8579"/>
                </a:solidFill>
              </a:defRPr>
            </a:pPr>
            <a:r>
              <a:rPr sz="1200" b="1">
                <a:solidFill>
                  <a:srgbClr val="8C8579"/>
                </a:solidFill>
              </a:rPr>
              <a:t>/100  HIGH · CB-1</a:t>
            </a:r>
          </a:p>
        </p:txBody>
      </p:sp>
      <p:sp>
        <p:nvSpPr>
          <p:cNvPr id="16" name="decline">
            <a:extLst xmlns:a="http://schemas.openxmlformats.org/drawingml/2006/main">
              <a:ext uri="{FF2B5EF4-FFF2-40B4-BE49-F238E27FC236}">
                <a16:creationId xmlns:a16="http://schemas.microsoft.com/office/drawing/2014/main" id="{206F44E6-C6C9-4F00-9ED1-70EB3DB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038600"/>
            <a:ext cx="1695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EEAE1"/>
                </a:solidFill>
              </a:defRPr>
            </a:pPr>
            <a:r>
              <a:rPr sz="2550" b="1">
                <a:solidFill>
                  <a:srgbClr val="EEEAE1"/>
                </a:solidFill>
              </a:rPr>
              <a:t>DECLINE</a:t>
            </a:r>
          </a:p>
        </p:txBody>
      </p:sp>
      <p:sp>
        <p:nvSpPr>
          <p:cNvPr id="17" name="reason">
            <a:extLst xmlns:a="http://schemas.openxmlformats.org/drawingml/2006/main">
              <a:ext uri="{FF2B5EF4-FFF2-40B4-BE49-F238E27FC236}">
                <a16:creationId xmlns:a16="http://schemas.microsoft.com/office/drawing/2014/main" id="{F43AA260-6365-4D94-A3CE-48F5D506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292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D2C6"/>
                </a:solidFill>
              </a:defRPr>
            </a:pPr>
            <a:r>
              <a:rPr sz="1275">
                <a:solidFill>
                  <a:srgbClr val="D8D2C6"/>
                </a:solidFill>
              </a:rPr>
              <a:t>Reason attached: one person decides the outcome and faces no effective trading restriction.</a:t>
            </a:r>
          </a:p>
        </p:txBody>
      </p:sp>
    </p:spTree>
    <p:extLst>
      <p:ext uri="{BB962C8B-B14F-4D97-AF65-F5344CB8AC3E}">
        <p14:creationId xmlns:p14="http://schemas.microsoft.com/office/powerpoint/2010/main" val="2610570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33FB70-540F-45E2-86CF-6CCD8B51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0A24C"/>
                </a:solidFill>
              </a:defRPr>
            </a:pPr>
            <a:r>
              <a:rPr sz="825" b="1">
                <a:solidFill>
                  <a:srgbClr val="D0A24C"/>
                </a:solidFill>
              </a:rPr>
              <a:t>BOUNDED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031C3-288B-4E6A-B73E-F013B898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048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C8579"/>
                </a:solidFill>
              </a:defRPr>
            </a:pPr>
            <a:r>
              <a:rPr sz="825" b="1">
                <a:solidFill>
                  <a:srgbClr val="8C8579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FDE34-C8E2-4B17-9F63-F879F245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FA10416-6006-4960-AA3E-AC215B53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85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EEEAE1"/>
                </a:solidFill>
              </a:defRPr>
            </a:pPr>
            <a:r>
              <a:rPr sz="3300">
                <a:solidFill>
                  <a:srgbClr val="EEEAE1"/>
                </a:solidFill>
              </a:rPr>
              <a:t>The evidence is repeatable—and bounded.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68D2FBE-F7D4-4A03-8B49-74919784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C8579"/>
                </a:solidFill>
              </a:defRPr>
            </a:pPr>
            <a:r>
              <a:rPr sz="1350">
                <a:solidFill>
                  <a:srgbClr val="8C8579"/>
                </a:solidFill>
              </a:rPr>
              <a:t>Internal consistency on a curated set; not proof of live insider-activity prediction.</a:t>
            </a:r>
          </a:p>
        </p:txBody>
      </p: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3AF95E6E-38F0-43E2-9EDC-BA32A19A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250">
                <a:solidFill>
                  <a:srgbClr val="EEEAE1"/>
                </a:solidFill>
              </a:defRPr>
            </a:pPr>
            <a:r>
              <a:rPr sz="5250">
                <a:solidFill>
                  <a:srgbClr val="EEEAE1"/>
                </a:solidFill>
              </a:rPr>
              <a:t>0.930</a:t>
            </a:r>
          </a:p>
        </p:txBody>
      </p:sp>
      <p:sp>
        <p:nvSpPr>
          <p:cNvPr id="7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81F7E777-909C-4579-A4B0-85BE359D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0A24C"/>
                </a:solidFill>
              </a:defRPr>
            </a:pPr>
            <a:r>
              <a:rPr sz="1050" b="1">
                <a:solidFill>
                  <a:srgbClr val="D0A24C"/>
                </a:solidFill>
              </a:rPr>
              <a:t>SPEARMAN ρ</a:t>
            </a:r>
          </a:p>
        </p:txBody>
      </p:sp>
      <p:sp>
        <p:nvSpPr>
          <p:cNvPr id="8" name="metric-body-0">
            <a:extLst xmlns:a="http://schemas.openxmlformats.org/drawingml/2006/main">
              <a:ext uri="{FF2B5EF4-FFF2-40B4-BE49-F238E27FC236}">
                <a16:creationId xmlns:a16="http://schemas.microsoft.com/office/drawing/2014/main" id="{67129132-1DC7-47DC-B3D7-C49BA091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D2C6"/>
                </a:solidFill>
              </a:defRPr>
            </a:pPr>
            <a:r>
              <a:rPr sz="1275">
                <a:solidFill>
                  <a:srgbClr val="D8D2C6"/>
                </a:solidFill>
              </a:rPr>
              <a:t>n = 16 curated contracts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672F4-3ED4-426D-881A-B2F35EB9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F92C1382-FFD4-48D8-BBC1-66E97AC5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>
                <a:solidFill>
                  <a:srgbClr val="EEEAE1"/>
                </a:solidFill>
              </a:defRPr>
            </a:pPr>
            <a:r>
              <a:rPr sz="4650">
                <a:solidFill>
                  <a:srgbClr val="EEEAE1"/>
                </a:solidFill>
              </a:rPr>
              <a:t>16 / 16</a:t>
            </a:r>
          </a:p>
        </p:txBody>
      </p:sp>
      <p:sp>
        <p:nvSpPr>
          <p:cNvPr id="1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BECF604E-99FD-4F02-9807-23FCADFA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33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0A24C"/>
                </a:solidFill>
              </a:defRPr>
            </a:pPr>
            <a:r>
              <a:rPr sz="1050" b="1">
                <a:solidFill>
                  <a:srgbClr val="D0A24C"/>
                </a:solidFill>
              </a:rPr>
              <a:t>BAND MATCH</a:t>
            </a:r>
          </a:p>
        </p:txBody>
      </p:sp>
      <p:sp>
        <p:nvSpPr>
          <p:cNvPr id="12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A830FB81-2B8C-4B73-9ADD-813F41A8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7433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D2C6"/>
                </a:solidFill>
              </a:defRPr>
            </a:pPr>
            <a:r>
              <a:rPr sz="1275">
                <a:solidFill>
                  <a:srgbClr val="D8D2C6"/>
                </a:solidFill>
              </a:rPr>
              <a:t>three blind classifier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B04F4-5402-4679-A33A-1E94A721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95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ric-2">
            <a:extLst xmlns:a="http://schemas.openxmlformats.org/drawingml/2006/main">
              <a:ext uri="{FF2B5EF4-FFF2-40B4-BE49-F238E27FC236}">
                <a16:creationId xmlns:a16="http://schemas.microsoft.com/office/drawing/2014/main" id="{20BFFB0E-064B-4C10-B8AC-66C724EA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43150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>
                <a:solidFill>
                  <a:srgbClr val="EEEAE1"/>
                </a:solidFill>
              </a:defRPr>
            </a:pPr>
            <a:r>
              <a:rPr sz="4650">
                <a:solidFill>
                  <a:srgbClr val="EEEAE1"/>
                </a:solidFill>
              </a:rPr>
              <a:t>69 + 8</a:t>
            </a:r>
          </a:p>
        </p:txBody>
      </p:sp>
      <p:sp>
        <p:nvSpPr>
          <p:cNvPr id="15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DEB9B7E5-C0F6-497C-89BF-98072D67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33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0A24C"/>
                </a:solidFill>
              </a:defRPr>
            </a:pPr>
            <a:r>
              <a:rPr sz="1050" b="1">
                <a:solidFill>
                  <a:srgbClr val="D0A24C"/>
                </a:solidFill>
              </a:rPr>
              <a:t>TESTS PASSED</a:t>
            </a:r>
          </a:p>
        </p:txBody>
      </p:sp>
      <p:sp>
        <p:nvSpPr>
          <p:cNvPr id="16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16807E7E-A8F6-4A8C-AF1F-9C677A04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433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D2C6"/>
                </a:solidFill>
              </a:defRPr>
            </a:pPr>
            <a:r>
              <a:rPr sz="1275">
                <a:solidFill>
                  <a:srgbClr val="D8D2C6"/>
                </a:solidFill>
              </a:rPr>
              <a:t>software + smart-contract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9AF99-3599-4256-BAA4-0B459908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610"/>
          </a:solidFill>
          <a:ln xmlns:a="http://schemas.openxmlformats.org/drawingml/2006/main" w="9525">
            <a:solidFill>
              <a:srgbClr val="343128"/>
            </a:solidFill>
            <a:prstDash val="solid"/>
          </a:ln>
        </p:spPr>
      </p:sp>
      <p:sp>
        <p:nvSpPr>
          <p:cNvPr id="18" name="chain">
            <a:extLst xmlns:a="http://schemas.openxmlformats.org/drawingml/2006/main">
              <a:ext uri="{FF2B5EF4-FFF2-40B4-BE49-F238E27FC236}">
                <a16:creationId xmlns:a16="http://schemas.microsoft.com/office/drawing/2014/main" id="{8478697B-B426-44A3-84C2-95D3A953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0A24C"/>
                </a:solidFill>
              </a:defRPr>
            </a:pPr>
            <a:r>
              <a:rPr sz="975" b="1">
                <a:solidFill>
                  <a:srgbClr val="D0A24C"/>
                </a:solidFill>
              </a:rPr>
              <a:t>SOMNIA SHANNON</a:t>
            </a:r>
          </a:p>
        </p:txBody>
      </p:sp>
      <p:sp>
        <p:nvSpPr>
          <p:cNvPr id="19" name="registry-state">
            <a:extLst xmlns:a="http://schemas.openxmlformats.org/drawingml/2006/main">
              <a:ext uri="{FF2B5EF4-FFF2-40B4-BE49-F238E27FC236}">
                <a16:creationId xmlns:a16="http://schemas.microsoft.com/office/drawing/2014/main" id="{131BACA2-DA7D-4B87-9100-9C9DD345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05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EEAE1"/>
                </a:solidFill>
              </a:defRPr>
            </a:pPr>
            <a:r>
              <a:rPr sz="1800">
                <a:solidFill>
                  <a:srgbClr val="EEEAE1"/>
                </a:solidFill>
              </a:rPr>
              <a:t>ScoreRegistry deployed</a:t>
            </a:r>
          </a:p>
        </p:txBody>
      </p:sp>
      <p:sp>
        <p:nvSpPr>
          <p:cNvPr id="20" name="address">
            <a:extLst xmlns:a="http://schemas.openxmlformats.org/drawingml/2006/main">
              <a:ext uri="{FF2B5EF4-FFF2-40B4-BE49-F238E27FC236}">
                <a16:creationId xmlns:a16="http://schemas.microsoft.com/office/drawing/2014/main" id="{B7929283-09CE-44A5-82AC-91336A86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24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C8579"/>
                </a:solidFill>
              </a:defRPr>
            </a:pPr>
            <a:r>
              <a:rPr sz="1200">
                <a:solidFill>
                  <a:srgbClr val="8C8579"/>
                </a:solidFill>
              </a:rPr>
              <a:t>0xb8e11d…5bbc7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761AD1-90D8-4844-A93A-1894DBBF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43500"/>
            <a:ext cx="95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ovenance-label">
            <a:extLst xmlns:a="http://schemas.openxmlformats.org/drawingml/2006/main">
              <a:ext uri="{FF2B5EF4-FFF2-40B4-BE49-F238E27FC236}">
                <a16:creationId xmlns:a16="http://schemas.microsoft.com/office/drawing/2014/main" id="{E09C6425-A69B-4DF6-A47D-D529947E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81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C8579"/>
                </a:solidFill>
              </a:defRPr>
            </a:pPr>
            <a:r>
              <a:rPr sz="900" b="1">
                <a:solidFill>
                  <a:srgbClr val="8C8579"/>
                </a:solidFill>
              </a:rPr>
              <a:t>CURRENT SOURCE-BOUND ATTESTATIONS</a:t>
            </a:r>
          </a:p>
        </p:txBody>
      </p:sp>
      <p:sp>
        <p:nvSpPr>
          <p:cNvPr id="23" name="provenance-state">
            <a:extLst xmlns:a="http://schemas.openxmlformats.org/drawingml/2006/main">
              <a:ext uri="{FF2B5EF4-FFF2-40B4-BE49-F238E27FC236}">
                <a16:creationId xmlns:a16="http://schemas.microsoft.com/office/drawing/2014/main" id="{5F2BDFE0-4AB9-4CA5-B8CF-E92AFC97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24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EEAE1"/>
                </a:solidFill>
              </a:defRPr>
            </a:pPr>
            <a:r>
              <a:rPr sz="1800" b="1">
                <a:solidFill>
                  <a:srgbClr val="EEEAE1"/>
                </a:solidFill>
              </a:rPr>
              <a:t>Republish pending</a:t>
            </a:r>
          </a:p>
        </p:txBody>
      </p:sp>
    </p:spTree>
    <p:extLst>
      <p:ext uri="{BB962C8B-B14F-4D97-AF65-F5344CB8AC3E}">
        <p14:creationId xmlns:p14="http://schemas.microsoft.com/office/powerpoint/2010/main" val="1439455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0F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089aebeb94c33"/>
          <a:srcRect xmlns:a="http://schemas.openxmlformats.org/drawingml/2006/main" l="20741" t="0" r="207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0"/>
            <a:ext cx="6019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75013-0636-4831-A2A8-D886809B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05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0F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87340-411A-4BBE-BDE1-3EC653EB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50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03CE077D-3B20-4D01-9B7A-513DFA3B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0A24C"/>
                </a:solidFill>
              </a:defRPr>
            </a:pPr>
            <a:r>
              <a:rPr sz="975" b="1">
                <a:solidFill>
                  <a:srgbClr val="D0A24C"/>
                </a:solidFill>
              </a:rPr>
              <a:t>MAKE STRUCTURAL RISK VISIBLE</a:t>
            </a:r>
          </a:p>
        </p:txBody>
      </p:sp>
      <p:sp>
        <p:nvSpPr>
          <p:cNvPr id="5" name="close-title">
            <a:extLst xmlns:a="http://schemas.openxmlformats.org/drawingml/2006/main">
              <a:ext uri="{FF2B5EF4-FFF2-40B4-BE49-F238E27FC236}">
                <a16:creationId xmlns:a16="http://schemas.microsoft.com/office/drawing/2014/main" id="{F8851242-1584-4A3D-B692-BCC9B64D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274"/>
          </a:bodyPr>
          <a:lstStyle xmlns:a="http://schemas.openxmlformats.org/drawingml/2006/main"/>
          <a:p xmlns:a="http://schemas.openxmlformats.org/drawingml/2006/main">
            <a:pPr>
              <a:defRPr sz="4800">
                <a:solidFill>
                  <a:srgbClr val="EEEAE1"/>
                </a:solidFill>
              </a:defRPr>
            </a:pPr>
            <a:r>
              <a:rPr sz="4800">
                <a:solidFill>
                  <a:srgbClr val="EEEAE1"/>
                </a:solidFill>
              </a:rPr>
              <a:t>Know who may know</a:t>
            </a:r>
          </a:p>
          <a:p xmlns:a="http://schemas.openxmlformats.org/drawingml/2006/main">
            <a:pPr>
              <a:defRPr sz="4800">
                <a:solidFill>
                  <a:srgbClr val="EEEAE1"/>
                </a:solidFill>
              </a:defRPr>
            </a:pPr>
            <a:r>
              <a:rPr sz="4800">
                <a:solidFill>
                  <a:srgbClr val="EEEAE1"/>
                </a:solidFill>
              </a:rPr>
              <a:t>before you do.</a:t>
            </a:r>
          </a:p>
        </p:txBody>
      </p:sp>
      <p:sp>
        <p:nvSpPr>
          <p:cNvPr id="6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CA1CE055-21EA-4DE7-9920-5BBD8BE2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D2C6"/>
                </a:solidFill>
              </a:defRPr>
            </a:pPr>
            <a:r>
              <a:rPr sz="1875">
                <a:solidFill>
                  <a:srgbClr val="D8D2C6"/>
                </a:solidFill>
              </a:rPr>
              <a:t>For agents, venues, and traders.</a:t>
            </a:r>
          </a:p>
        </p:txBody>
      </p:sp>
      <p:sp>
        <p:nvSpPr>
          <p:cNvPr id="7" name="close-proof">
            <a:extLst xmlns:a="http://schemas.openxmlformats.org/drawingml/2006/main">
              <a:ext uri="{FF2B5EF4-FFF2-40B4-BE49-F238E27FC236}">
                <a16:creationId xmlns:a16="http://schemas.microsoft.com/office/drawing/2014/main" id="{93754A2A-B98A-4333-A234-D34F40A6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C8579"/>
                </a:solidFill>
              </a:defRPr>
            </a:pPr>
            <a:r>
              <a:rPr sz="1350">
                <a:solidFill>
                  <a:srgbClr val="8C8579"/>
                </a:solidFill>
              </a:rPr>
              <a:t>DreamDEX snapshots  ·  MCP policy checks  ·  Somnia registry</a:t>
            </a:r>
          </a:p>
        </p:txBody>
      </p:sp>
      <p:sp>
        <p:nvSpPr>
          <p:cNvPr id="8" name="close-brand">
            <a:extLst xmlns:a="http://schemas.openxmlformats.org/drawingml/2006/main">
              <a:ext uri="{FF2B5EF4-FFF2-40B4-BE49-F238E27FC236}">
                <a16:creationId xmlns:a16="http://schemas.microsoft.com/office/drawing/2014/main" id="{DE72687C-E9D3-483A-9213-92FA816B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EEAE1"/>
                </a:solidFill>
              </a:defRPr>
            </a:pPr>
            <a:r>
              <a:rPr sz="1800" b="1">
                <a:solidFill>
                  <a:srgbClr val="EEEAE1"/>
                </a:solidFill>
              </a:rPr>
              <a:t>LevelField</a:t>
            </a:r>
          </a:p>
        </p:txBody>
      </p:sp>
    </p:spTree>
    <p:extLst>
      <p:ext uri="{BB962C8B-B14F-4D97-AF65-F5344CB8AC3E}">
        <p14:creationId xmlns:p14="http://schemas.microsoft.com/office/powerpoint/2010/main" val="1001269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2026-08-20T11:06:35.4180000Z</dcterms:created>
  <dcterms:modified xsi:type="dcterms:W3CDTF">2026-08-20T11:06:35.4180000Z</dcterms:modified>
</coreProperties>
</file>